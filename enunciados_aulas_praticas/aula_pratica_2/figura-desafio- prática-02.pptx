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4" r:id="rId2"/>
  </p:sldIdLst>
  <p:sldSz cx="12192000" cy="6858000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336699"/>
    <a:srgbClr val="FFEC99"/>
    <a:srgbClr val="C6EEE2"/>
    <a:srgbClr val="000066"/>
    <a:srgbClr val="CCFF99"/>
    <a:srgbClr val="003300"/>
    <a:srgbClr val="CCCCFF"/>
    <a:srgbClr val="CCECFF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7" autoAdjust="0"/>
    <p:restoredTop sz="94733" autoAdjust="0"/>
  </p:normalViewPr>
  <p:slideViewPr>
    <p:cSldViewPr>
      <p:cViewPr varScale="1">
        <p:scale>
          <a:sx n="106" d="100"/>
          <a:sy n="106" d="100"/>
        </p:scale>
        <p:origin x="60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-1944" y="-108"/>
      </p:cViewPr>
      <p:guideLst>
        <p:guide orient="horz" pos="3223"/>
        <p:guide pos="223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61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14" tIns="48208" rIns="96414" bIns="48208" numCol="1" anchor="t" anchorCtr="0" compatLnSpc="1">
            <a:prstTxWarp prst="textNoShape">
              <a:avLst/>
            </a:prstTxWarp>
          </a:bodyPr>
          <a:lstStyle>
            <a:lvl1pPr defTabSz="963613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9238" y="0"/>
            <a:ext cx="30051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14" tIns="48208" rIns="96414" bIns="48208" numCol="1" anchor="t" anchorCtr="0" compatLnSpc="1">
            <a:prstTxWarp prst="textNoShape">
              <a:avLst/>
            </a:prstTxWarp>
          </a:bodyPr>
          <a:lstStyle>
            <a:lvl1pPr algn="r" defTabSz="963613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55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34550"/>
            <a:ext cx="30861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14" tIns="48208" rIns="96414" bIns="48208" numCol="1" anchor="b" anchorCtr="0" compatLnSpc="1">
            <a:prstTxWarp prst="textNoShape">
              <a:avLst/>
            </a:prstTxWarp>
          </a:bodyPr>
          <a:lstStyle>
            <a:lvl1pPr defTabSz="963613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55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9238" y="9734550"/>
            <a:ext cx="300513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14" tIns="48208" rIns="96414" bIns="48208" numCol="1" anchor="b" anchorCtr="0" compatLnSpc="1">
            <a:prstTxWarp prst="textNoShape">
              <a:avLst/>
            </a:prstTxWarp>
          </a:bodyPr>
          <a:lstStyle>
            <a:lvl1pPr algn="r" defTabSz="963613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5E93C486-876F-4674-B906-FC7E3E19D9E9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50376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8" tIns="47744" rIns="95488" bIns="47744" numCol="1" anchor="t" anchorCtr="0" compatLnSpc="1">
            <a:prstTxWarp prst="textNoShape">
              <a:avLst/>
            </a:prstTxWarp>
          </a:bodyPr>
          <a:lstStyle>
            <a:lvl1pPr defTabSz="9540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8" tIns="47744" rIns="95488" bIns="47744" numCol="1" anchor="t" anchorCtr="0" compatLnSpc="1">
            <a:prstTxWarp prst="textNoShape">
              <a:avLst/>
            </a:prstTxWarp>
          </a:bodyPr>
          <a:lstStyle>
            <a:lvl1pPr algn="r" defTabSz="9540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8350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8" tIns="47744" rIns="95488" bIns="477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8" tIns="47744" rIns="95488" bIns="47744" numCol="1" anchor="b" anchorCtr="0" compatLnSpc="1">
            <a:prstTxWarp prst="textNoShape">
              <a:avLst/>
            </a:prstTxWarp>
          </a:bodyPr>
          <a:lstStyle>
            <a:lvl1pPr defTabSz="9540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185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8" tIns="47744" rIns="95488" bIns="47744" numCol="1" anchor="b" anchorCtr="0" compatLnSpc="1">
            <a:prstTxWarp prst="textNoShape">
              <a:avLst/>
            </a:prstTxWarp>
          </a:bodyPr>
          <a:lstStyle>
            <a:lvl1pPr algn="r" defTabSz="9540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319D3D3-764E-4BE1-99BC-B9009C89C9A4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79029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BD14539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6884" y="1227138"/>
            <a:ext cx="9144000" cy="11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9" descr="BD14539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5560" y="6072188"/>
            <a:ext cx="9144000" cy="11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81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66864"/>
            <a:ext cx="10363200" cy="1862137"/>
          </a:xfrm>
        </p:spPr>
        <p:txBody>
          <a:bodyPr/>
          <a:lstStyle>
            <a:lvl1pPr>
              <a:defRPr sz="4400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ebdings" pitchFamily="18" charset="2"/>
              <a:buNone/>
              <a:defRPr/>
            </a:lvl1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670976" y="6324600"/>
            <a:ext cx="609600" cy="2682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4D69CE-2CE8-400C-AA5E-A161772831AC}" type="slidenum">
              <a:rPr lang="pt-PT"/>
              <a:pPr>
                <a:defRPr/>
              </a:pPr>
              <a:t>‹#›</a:t>
            </a:fld>
            <a:endParaRPr lang="pt-PT"/>
          </a:p>
        </p:txBody>
      </p:sp>
      <p:pic>
        <p:nvPicPr>
          <p:cNvPr id="2" name="Picture 1" descr="C:\Users\LuisOsorio\AppData\Local\Microsoft\Windows\INetCache\Content.Word\logo_ISEL_principal_150dpi_RGB.5553848a413e1.jpg">
            <a:extLst>
              <a:ext uri="{FF2B5EF4-FFF2-40B4-BE49-F238E27FC236}">
                <a16:creationId xmlns:a16="http://schemas.microsoft.com/office/drawing/2014/main" id="{8015DA51-DD31-5624-9E9A-593F203BE4EF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0" t="16750" r="11661" b="17500"/>
          <a:stretch>
            <a:fillRect/>
          </a:stretch>
        </p:blipFill>
        <p:spPr bwMode="auto">
          <a:xfrm>
            <a:off x="914400" y="339569"/>
            <a:ext cx="1455824" cy="887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9EDED-E248-42E2-BCDE-7D85C053D9AB}" type="slidenum">
              <a:rPr lang="pt-PT"/>
              <a:pPr>
                <a:defRPr/>
              </a:pPr>
              <a:t>‹#›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Infraestruturas de Sistemas Distribuídos - DEI/ISEL 2026</a:t>
            </a:r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AC3A1-FE8A-43E5-8100-6DB11FFB6DC9}" type="slidenum">
              <a:rPr lang="pt-PT"/>
              <a:pPr>
                <a:defRPr/>
              </a:pPr>
              <a:t>‹#›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Infraestruturas de Sistemas Distribuídos - DEI/ISEL 2026</a:t>
            </a:r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200" y="685800"/>
            <a:ext cx="57912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685800"/>
            <a:ext cx="57912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5D254-CC30-41E6-B5D7-7BBB4896CEED}" type="slidenum">
              <a:rPr lang="pt-PT"/>
              <a:pPr>
                <a:defRPr/>
              </a:pPr>
              <a:t>‹#›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Infraestruturas de Sistemas Distribuídos - DEI/ISEL 2026</a:t>
            </a:r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1822FE-6AB1-45F2-AFF4-ECE2991E66D3}" type="slidenum">
              <a:rPr lang="pt-PT"/>
              <a:pPr>
                <a:defRPr/>
              </a:pPr>
              <a:t>‹#›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Infraestruturas de Sistemas Distribuídos - DEI/ISEL 2026</a:t>
            </a:r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1B368-A9B4-435F-81CE-E4275E8CA43E}" type="slidenum">
              <a:rPr lang="pt-PT"/>
              <a:pPr>
                <a:defRPr/>
              </a:pPr>
              <a:t>‹#›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Infraestruturas de Sistemas Distribuídos - DEI/ISEL 2026</a:t>
            </a:r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A68F8-BA9A-45C3-8152-7D51C7E51070}" type="slidenum">
              <a:rPr lang="pt-PT"/>
              <a:pPr>
                <a:defRPr/>
              </a:pPr>
              <a:t>‹#›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Infraestruturas de Sistemas Distribuídos - DEI/ISEL 2026</a:t>
            </a:r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D2B35F-8C47-44C1-95FA-2AA218A1CEE9}" type="slidenum">
              <a:rPr lang="pt-PT"/>
              <a:pPr>
                <a:defRPr/>
              </a:pPr>
              <a:t>‹#›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Infraestruturas de Sistemas Distribuídos - DEI/ISEL 2026</a:t>
            </a:r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DCE49-8BDD-4571-B0FA-F7BA23856949}" type="slidenum">
              <a:rPr lang="pt-PT"/>
              <a:pPr>
                <a:defRPr/>
              </a:pPr>
              <a:t>‹#›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Infraestruturas de Sistemas Distribuídos - DEI/ISEL 2026</a:t>
            </a:r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0C6746-EB84-47D9-8AC9-D3122FDB395C}" type="slidenum">
              <a:rPr lang="pt-PT"/>
              <a:pPr>
                <a:defRPr/>
              </a:pPr>
              <a:t>‹#›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Infraestruturas de Sistemas Distribuídos - DEI/ISEL 2026</a:t>
            </a:r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152400"/>
            <a:ext cx="29464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3200" y="152400"/>
            <a:ext cx="86360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CC5DE-8963-48DE-89C9-3DC3D76DB210}" type="slidenum">
              <a:rPr lang="pt-PT"/>
              <a:pPr>
                <a:defRPr/>
              </a:pPr>
              <a:t>‹#›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Infraestruturas de Sistemas Distribuídos - DEI/ISEL 2026</a:t>
            </a:r>
            <a:endParaRPr lang="pt-P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78CD7-40EC-4C88-B252-4F3A082A658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Infraestruturas de Sistemas Distribuídos - DEI/ISEL 2026</a:t>
            </a:r>
            <a:endParaRPr lang="pt-P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05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55540" y="265112"/>
            <a:ext cx="9540044" cy="54200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PT" dirty="0" err="1"/>
              <a:t>Click</a:t>
            </a:r>
            <a:r>
              <a:rPr lang="pt-PT" dirty="0"/>
              <a:t> to </a:t>
            </a:r>
            <a:r>
              <a:rPr lang="pt-PT" dirty="0" err="1"/>
              <a:t>edit</a:t>
            </a:r>
            <a:r>
              <a:rPr lang="pt-PT" dirty="0"/>
              <a:t> Master </a:t>
            </a:r>
            <a:r>
              <a:rPr lang="pt-PT" dirty="0" err="1"/>
              <a:t>title</a:t>
            </a:r>
            <a:r>
              <a:rPr lang="pt-PT" dirty="0"/>
              <a:t> </a:t>
            </a:r>
            <a:r>
              <a:rPr lang="pt-PT" dirty="0" err="1"/>
              <a:t>style</a:t>
            </a:r>
            <a:endParaRPr lang="pt-PT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404" y="944724"/>
            <a:ext cx="10764180" cy="53036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pic>
        <p:nvPicPr>
          <p:cNvPr id="1028" name="Picture 8" descr="BD14539_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387588" y="794420"/>
            <a:ext cx="9144000" cy="11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10" descr="BD14539_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96416" y="6235700"/>
            <a:ext cx="9144000" cy="11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28548" y="6324600"/>
            <a:ext cx="501588" cy="268288"/>
          </a:xfrm>
          <a:prstGeom prst="rect">
            <a:avLst/>
          </a:prstGeom>
          <a:solidFill>
            <a:srgbClr val="00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FF3AB15F-0D08-4DE9-8793-199E17528D11}" type="slidenum">
              <a:rPr lang="pt-PT"/>
              <a:pPr>
                <a:defRPr/>
              </a:pPr>
              <a:t>‹#›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731404" y="6350001"/>
            <a:ext cx="4032448" cy="285597"/>
          </a:xfrm>
          <a:prstGeom prst="rect">
            <a:avLst/>
          </a:prstGeom>
          <a:solidFill>
            <a:srgbClr val="336699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t-BR"/>
              <a:t>Infraestruturas de Sistemas Distribuídos - DEI/ISEL 2026</a:t>
            </a:r>
            <a:endParaRPr lang="pt-PT" dirty="0"/>
          </a:p>
        </p:txBody>
      </p:sp>
      <p:pic>
        <p:nvPicPr>
          <p:cNvPr id="3" name="Picture 2" descr="Instituto Superior de Engenharia de Lisboa | Politécnico de Lisboa">
            <a:extLst>
              <a:ext uri="{FF2B5EF4-FFF2-40B4-BE49-F238E27FC236}">
                <a16:creationId xmlns:a16="http://schemas.microsoft.com/office/drawing/2014/main" id="{B4DD4E2F-DFCD-A457-E243-90D1F714F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13" b="28135"/>
          <a:stretch>
            <a:fillRect/>
          </a:stretch>
        </p:blipFill>
        <p:spPr bwMode="auto">
          <a:xfrm>
            <a:off x="657832" y="353147"/>
            <a:ext cx="1266207" cy="36593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6" r:id="rId12"/>
  </p:sldLayoutIdLst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333399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333399"/>
          </a:solidFill>
          <a:latin typeface="Aria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333399"/>
          </a:solidFill>
          <a:latin typeface="Aria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333399"/>
          </a:solidFill>
          <a:latin typeface="Aria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333399"/>
          </a:solidFill>
          <a:latin typeface="Arial" pitchFamily="34" charset="0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333399"/>
          </a:solidFill>
          <a:latin typeface="Arial" pitchFamily="34" charset="0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333399"/>
          </a:solidFill>
          <a:latin typeface="Arial" pitchFamily="34" charset="0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333399"/>
          </a:solidFill>
          <a:latin typeface="Arial" pitchFamily="34" charset="0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333399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50000"/>
        </a:spcAft>
        <a:buFont typeface="Webdings" pitchFamily="18" charset="2"/>
        <a:buChar char="&lt;"/>
        <a:defRPr sz="2400">
          <a:solidFill>
            <a:srgbClr val="1B1B53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ebdings" pitchFamily="18" charset="2"/>
        <a:buChar char="="/>
        <a:defRPr>
          <a:solidFill>
            <a:srgbClr val="333399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rgbClr val="333399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rgbClr val="333399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rgbClr val="333399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rgbClr val="333399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rgbClr val="333399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rgbClr val="333399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rgbClr val="333399"/>
          </a:solidFill>
          <a:latin typeface="+mn-lt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5BF1-3B1D-4D5B-95FC-F097150F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 acesso concorrente a múltiplos </a:t>
            </a:r>
            <a:r>
              <a:rPr lang="pt-PT" dirty="0" err="1"/>
              <a:t>Service.vectxx</a:t>
            </a:r>
            <a:r>
              <a:rPr lang="pt-PT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A4E097-68C3-47FA-9C15-DCD8D36CA0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78CD7-40EC-4C88-B252-4F3A082A658D}" type="slidenum">
              <a:rPr lang="pt-PT" smtClean="0"/>
              <a:pPr/>
              <a:t>1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1FA569-2A3E-4D4F-97D8-37A35826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Infraestruturas de Sistemas Distribuídos - DEI/ISEL 2026</a:t>
            </a:r>
            <a:endParaRPr lang="pt-PT">
              <a:solidFill>
                <a:schemeClr val="bg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8DC73E-D527-4716-8625-99CB5ADE03F9}"/>
              </a:ext>
            </a:extLst>
          </p:cNvPr>
          <p:cNvSpPr/>
          <p:nvPr/>
        </p:nvSpPr>
        <p:spPr bwMode="auto">
          <a:xfrm>
            <a:off x="7452857" y="3192875"/>
            <a:ext cx="2036854" cy="2134462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8E644-1C7E-41D8-99BE-7D5E49C56123}"/>
              </a:ext>
            </a:extLst>
          </p:cNvPr>
          <p:cNvSpPr txBox="1"/>
          <p:nvPr/>
        </p:nvSpPr>
        <p:spPr>
          <a:xfrm>
            <a:off x="9207306" y="3351651"/>
            <a:ext cx="1495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/>
              <a:t>service.vect02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9A1F12E-97C5-4DFF-8229-0AB4E32FF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209542"/>
              </p:ext>
            </p:extLst>
          </p:nvPr>
        </p:nvGraphicFramePr>
        <p:xfrm>
          <a:off x="7540584" y="3898579"/>
          <a:ext cx="1786352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133">
                  <a:extLst>
                    <a:ext uri="{9D8B030D-6E8A-4147-A177-3AD203B41FA5}">
                      <a16:colId xmlns:a16="http://schemas.microsoft.com/office/drawing/2014/main" val="1602634416"/>
                    </a:ext>
                  </a:extLst>
                </a:gridCol>
                <a:gridCol w="458022">
                  <a:extLst>
                    <a:ext uri="{9D8B030D-6E8A-4147-A177-3AD203B41FA5}">
                      <a16:colId xmlns:a16="http://schemas.microsoft.com/office/drawing/2014/main" val="2072137769"/>
                    </a:ext>
                  </a:extLst>
                </a:gridCol>
                <a:gridCol w="393175">
                  <a:extLst>
                    <a:ext uri="{9D8B030D-6E8A-4147-A177-3AD203B41FA5}">
                      <a16:colId xmlns:a16="http://schemas.microsoft.com/office/drawing/2014/main" val="199495732"/>
                    </a:ext>
                  </a:extLst>
                </a:gridCol>
                <a:gridCol w="458022">
                  <a:extLst>
                    <a:ext uri="{9D8B030D-6E8A-4147-A177-3AD203B41FA5}">
                      <a16:colId xmlns:a16="http://schemas.microsoft.com/office/drawing/2014/main" val="3464804587"/>
                    </a:ext>
                  </a:extLst>
                </a:gridCol>
              </a:tblGrid>
              <a:tr h="250475">
                <a:tc>
                  <a:txBody>
                    <a:bodyPr/>
                    <a:lstStyle/>
                    <a:p>
                      <a:r>
                        <a:rPr lang="en-US" sz="1200" b="0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789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62549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16E7724-0494-44F1-91A7-BF58E654CA09}"/>
              </a:ext>
            </a:extLst>
          </p:cNvPr>
          <p:cNvSpPr txBox="1"/>
          <p:nvPr/>
        </p:nvSpPr>
        <p:spPr>
          <a:xfrm>
            <a:off x="7648841" y="3584595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/>
              <a:t>vector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04935A1-8189-49D1-9F1F-39EF39D2ED6C}"/>
              </a:ext>
            </a:extLst>
          </p:cNvPr>
          <p:cNvSpPr/>
          <p:nvPr/>
        </p:nvSpPr>
        <p:spPr bwMode="auto">
          <a:xfrm>
            <a:off x="3821067" y="1496120"/>
            <a:ext cx="1066800" cy="1295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BA50A8-3AAC-450A-90E0-F9F9B199B73E}"/>
              </a:ext>
            </a:extLst>
          </p:cNvPr>
          <p:cNvSpPr txBox="1"/>
          <p:nvPr/>
        </p:nvSpPr>
        <p:spPr>
          <a:xfrm>
            <a:off x="3879056" y="1231982"/>
            <a:ext cx="1468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service.cliente.1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4275D44-BE96-4414-A673-A121738588CD}"/>
              </a:ext>
            </a:extLst>
          </p:cNvPr>
          <p:cNvSpPr/>
          <p:nvPr/>
        </p:nvSpPr>
        <p:spPr bwMode="auto">
          <a:xfrm>
            <a:off x="3730117" y="3236351"/>
            <a:ext cx="1066800" cy="1295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EA19B0-B5B7-4011-997D-0572D3FE4C06}"/>
              </a:ext>
            </a:extLst>
          </p:cNvPr>
          <p:cNvSpPr txBox="1"/>
          <p:nvPr/>
        </p:nvSpPr>
        <p:spPr>
          <a:xfrm>
            <a:off x="3984467" y="2999249"/>
            <a:ext cx="1468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service.cliente.2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7E58D2-172D-4B27-9C69-EF0269444756}"/>
              </a:ext>
            </a:extLst>
          </p:cNvPr>
          <p:cNvCxnSpPr>
            <a:cxnSpLocks/>
            <a:stCxn id="11" idx="6"/>
          </p:cNvCxnSpPr>
          <p:nvPr/>
        </p:nvCxnSpPr>
        <p:spPr bwMode="auto">
          <a:xfrm>
            <a:off x="4887867" y="2143820"/>
            <a:ext cx="2564990" cy="19638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62B355-99E1-4200-AE34-7F5FB59CF031}"/>
              </a:ext>
            </a:extLst>
          </p:cNvPr>
          <p:cNvCxnSpPr>
            <a:cxnSpLocks/>
            <a:stCxn id="13" idx="6"/>
            <a:endCxn id="5" idx="2"/>
          </p:cNvCxnSpPr>
          <p:nvPr/>
        </p:nvCxnSpPr>
        <p:spPr bwMode="auto">
          <a:xfrm>
            <a:off x="4796917" y="3884051"/>
            <a:ext cx="2655940" cy="3760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3A7F860-EC83-4D5C-9091-BF0EFF741FC0}"/>
              </a:ext>
            </a:extLst>
          </p:cNvPr>
          <p:cNvSpPr/>
          <p:nvPr/>
        </p:nvSpPr>
        <p:spPr bwMode="auto">
          <a:xfrm>
            <a:off x="4268680" y="1740998"/>
            <a:ext cx="139279" cy="908344"/>
          </a:xfrm>
          <a:custGeom>
            <a:avLst/>
            <a:gdLst>
              <a:gd name="connsiteX0" fmla="*/ 0 w 139279"/>
              <a:gd name="connsiteY0" fmla="*/ 0 h 908344"/>
              <a:gd name="connsiteX1" fmla="*/ 24222 w 139279"/>
              <a:gd name="connsiteY1" fmla="*/ 48445 h 908344"/>
              <a:gd name="connsiteX2" fmla="*/ 48445 w 139279"/>
              <a:gd name="connsiteY2" fmla="*/ 66612 h 908344"/>
              <a:gd name="connsiteX3" fmla="*/ 78723 w 139279"/>
              <a:gd name="connsiteY3" fmla="*/ 115057 h 908344"/>
              <a:gd name="connsiteX4" fmla="*/ 115057 w 139279"/>
              <a:gd name="connsiteY4" fmla="*/ 121112 h 908344"/>
              <a:gd name="connsiteX5" fmla="*/ 121113 w 139279"/>
              <a:gd name="connsiteY5" fmla="*/ 139279 h 908344"/>
              <a:gd name="connsiteX6" fmla="*/ 139279 w 139279"/>
              <a:gd name="connsiteY6" fmla="*/ 151391 h 908344"/>
              <a:gd name="connsiteX7" fmla="*/ 102946 w 139279"/>
              <a:gd name="connsiteY7" fmla="*/ 187724 h 908344"/>
              <a:gd name="connsiteX8" fmla="*/ 78723 w 139279"/>
              <a:gd name="connsiteY8" fmla="*/ 266448 h 908344"/>
              <a:gd name="connsiteX9" fmla="*/ 48445 w 139279"/>
              <a:gd name="connsiteY9" fmla="*/ 308837 h 908344"/>
              <a:gd name="connsiteX10" fmla="*/ 42389 w 139279"/>
              <a:gd name="connsiteY10" fmla="*/ 333059 h 908344"/>
              <a:gd name="connsiteX11" fmla="*/ 72667 w 139279"/>
              <a:gd name="connsiteY11" fmla="*/ 460228 h 908344"/>
              <a:gd name="connsiteX12" fmla="*/ 48445 w 139279"/>
              <a:gd name="connsiteY12" fmla="*/ 502617 h 908344"/>
              <a:gd name="connsiteX13" fmla="*/ 24222 w 139279"/>
              <a:gd name="connsiteY13" fmla="*/ 532895 h 908344"/>
              <a:gd name="connsiteX14" fmla="*/ 60556 w 139279"/>
              <a:gd name="connsiteY14" fmla="*/ 738787 h 908344"/>
              <a:gd name="connsiteX15" fmla="*/ 90834 w 139279"/>
              <a:gd name="connsiteY15" fmla="*/ 756954 h 908344"/>
              <a:gd name="connsiteX16" fmla="*/ 121113 w 139279"/>
              <a:gd name="connsiteY16" fmla="*/ 769065 h 908344"/>
              <a:gd name="connsiteX17" fmla="*/ 127168 w 139279"/>
              <a:gd name="connsiteY17" fmla="*/ 847788 h 908344"/>
              <a:gd name="connsiteX18" fmla="*/ 109001 w 139279"/>
              <a:gd name="connsiteY18" fmla="*/ 853844 h 908344"/>
              <a:gd name="connsiteX19" fmla="*/ 102946 w 139279"/>
              <a:gd name="connsiteY19" fmla="*/ 872010 h 908344"/>
              <a:gd name="connsiteX20" fmla="*/ 66612 w 139279"/>
              <a:gd name="connsiteY20" fmla="*/ 878066 h 908344"/>
              <a:gd name="connsiteX21" fmla="*/ 24222 w 139279"/>
              <a:gd name="connsiteY21" fmla="*/ 908344 h 90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39279" h="908344">
                <a:moveTo>
                  <a:pt x="0" y="0"/>
                </a:moveTo>
                <a:cubicBezTo>
                  <a:pt x="5782" y="14455"/>
                  <a:pt x="12129" y="36352"/>
                  <a:pt x="24222" y="48445"/>
                </a:cubicBezTo>
                <a:cubicBezTo>
                  <a:pt x="31359" y="55582"/>
                  <a:pt x="40371" y="60556"/>
                  <a:pt x="48445" y="66612"/>
                </a:cubicBezTo>
                <a:cubicBezTo>
                  <a:pt x="54868" y="82669"/>
                  <a:pt x="59857" y="106672"/>
                  <a:pt x="78723" y="115057"/>
                </a:cubicBezTo>
                <a:cubicBezTo>
                  <a:pt x="89943" y="120044"/>
                  <a:pt x="102946" y="119094"/>
                  <a:pt x="115057" y="121112"/>
                </a:cubicBezTo>
                <a:cubicBezTo>
                  <a:pt x="117076" y="127168"/>
                  <a:pt x="117126" y="134294"/>
                  <a:pt x="121113" y="139279"/>
                </a:cubicBezTo>
                <a:cubicBezTo>
                  <a:pt x="125659" y="144962"/>
                  <a:pt x="139279" y="144113"/>
                  <a:pt x="139279" y="151391"/>
                </a:cubicBezTo>
                <a:cubicBezTo>
                  <a:pt x="139279" y="166414"/>
                  <a:pt x="113261" y="180847"/>
                  <a:pt x="102946" y="187724"/>
                </a:cubicBezTo>
                <a:cubicBezTo>
                  <a:pt x="74628" y="230198"/>
                  <a:pt x="105799" y="178448"/>
                  <a:pt x="78723" y="266448"/>
                </a:cubicBezTo>
                <a:cubicBezTo>
                  <a:pt x="77184" y="271451"/>
                  <a:pt x="48553" y="308693"/>
                  <a:pt x="48445" y="308837"/>
                </a:cubicBezTo>
                <a:cubicBezTo>
                  <a:pt x="46426" y="316911"/>
                  <a:pt x="41265" y="324813"/>
                  <a:pt x="42389" y="333059"/>
                </a:cubicBezTo>
                <a:cubicBezTo>
                  <a:pt x="51252" y="398051"/>
                  <a:pt x="57715" y="415366"/>
                  <a:pt x="72667" y="460228"/>
                </a:cubicBezTo>
                <a:cubicBezTo>
                  <a:pt x="59861" y="511455"/>
                  <a:pt x="77306" y="459326"/>
                  <a:pt x="48445" y="502617"/>
                </a:cubicBezTo>
                <a:cubicBezTo>
                  <a:pt x="25045" y="537716"/>
                  <a:pt x="64851" y="505810"/>
                  <a:pt x="24222" y="532895"/>
                </a:cubicBezTo>
                <a:cubicBezTo>
                  <a:pt x="29890" y="615077"/>
                  <a:pt x="1295" y="686109"/>
                  <a:pt x="60556" y="738787"/>
                </a:cubicBezTo>
                <a:cubicBezTo>
                  <a:pt x="69353" y="746607"/>
                  <a:pt x="80307" y="751690"/>
                  <a:pt x="90834" y="756954"/>
                </a:cubicBezTo>
                <a:cubicBezTo>
                  <a:pt x="100557" y="761815"/>
                  <a:pt x="111020" y="765028"/>
                  <a:pt x="121113" y="769065"/>
                </a:cubicBezTo>
                <a:cubicBezTo>
                  <a:pt x="140327" y="797887"/>
                  <a:pt x="145514" y="797339"/>
                  <a:pt x="127168" y="847788"/>
                </a:cubicBezTo>
                <a:cubicBezTo>
                  <a:pt x="124987" y="853787"/>
                  <a:pt x="115057" y="851825"/>
                  <a:pt x="109001" y="853844"/>
                </a:cubicBezTo>
                <a:cubicBezTo>
                  <a:pt x="106983" y="859899"/>
                  <a:pt x="108488" y="868843"/>
                  <a:pt x="102946" y="872010"/>
                </a:cubicBezTo>
                <a:cubicBezTo>
                  <a:pt x="92285" y="878102"/>
                  <a:pt x="78260" y="874183"/>
                  <a:pt x="66612" y="878066"/>
                </a:cubicBezTo>
                <a:cubicBezTo>
                  <a:pt x="30278" y="890177"/>
                  <a:pt x="34988" y="886813"/>
                  <a:pt x="24222" y="908344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9ECF311-DA33-4960-8434-DDE4B3DC095C}"/>
              </a:ext>
            </a:extLst>
          </p:cNvPr>
          <p:cNvSpPr/>
          <p:nvPr/>
        </p:nvSpPr>
        <p:spPr bwMode="auto">
          <a:xfrm>
            <a:off x="4193879" y="3496873"/>
            <a:ext cx="139279" cy="908344"/>
          </a:xfrm>
          <a:custGeom>
            <a:avLst/>
            <a:gdLst>
              <a:gd name="connsiteX0" fmla="*/ 0 w 139279"/>
              <a:gd name="connsiteY0" fmla="*/ 0 h 908344"/>
              <a:gd name="connsiteX1" fmla="*/ 24222 w 139279"/>
              <a:gd name="connsiteY1" fmla="*/ 48445 h 908344"/>
              <a:gd name="connsiteX2" fmla="*/ 48445 w 139279"/>
              <a:gd name="connsiteY2" fmla="*/ 66612 h 908344"/>
              <a:gd name="connsiteX3" fmla="*/ 78723 w 139279"/>
              <a:gd name="connsiteY3" fmla="*/ 115057 h 908344"/>
              <a:gd name="connsiteX4" fmla="*/ 115057 w 139279"/>
              <a:gd name="connsiteY4" fmla="*/ 121112 h 908344"/>
              <a:gd name="connsiteX5" fmla="*/ 121113 w 139279"/>
              <a:gd name="connsiteY5" fmla="*/ 139279 h 908344"/>
              <a:gd name="connsiteX6" fmla="*/ 139279 w 139279"/>
              <a:gd name="connsiteY6" fmla="*/ 151391 h 908344"/>
              <a:gd name="connsiteX7" fmla="*/ 102946 w 139279"/>
              <a:gd name="connsiteY7" fmla="*/ 187724 h 908344"/>
              <a:gd name="connsiteX8" fmla="*/ 78723 w 139279"/>
              <a:gd name="connsiteY8" fmla="*/ 266448 h 908344"/>
              <a:gd name="connsiteX9" fmla="*/ 48445 w 139279"/>
              <a:gd name="connsiteY9" fmla="*/ 308837 h 908344"/>
              <a:gd name="connsiteX10" fmla="*/ 42389 w 139279"/>
              <a:gd name="connsiteY10" fmla="*/ 333059 h 908344"/>
              <a:gd name="connsiteX11" fmla="*/ 72667 w 139279"/>
              <a:gd name="connsiteY11" fmla="*/ 460228 h 908344"/>
              <a:gd name="connsiteX12" fmla="*/ 48445 w 139279"/>
              <a:gd name="connsiteY12" fmla="*/ 502617 h 908344"/>
              <a:gd name="connsiteX13" fmla="*/ 24222 w 139279"/>
              <a:gd name="connsiteY13" fmla="*/ 532895 h 908344"/>
              <a:gd name="connsiteX14" fmla="*/ 60556 w 139279"/>
              <a:gd name="connsiteY14" fmla="*/ 738787 h 908344"/>
              <a:gd name="connsiteX15" fmla="*/ 90834 w 139279"/>
              <a:gd name="connsiteY15" fmla="*/ 756954 h 908344"/>
              <a:gd name="connsiteX16" fmla="*/ 121113 w 139279"/>
              <a:gd name="connsiteY16" fmla="*/ 769065 h 908344"/>
              <a:gd name="connsiteX17" fmla="*/ 127168 w 139279"/>
              <a:gd name="connsiteY17" fmla="*/ 847788 h 908344"/>
              <a:gd name="connsiteX18" fmla="*/ 109001 w 139279"/>
              <a:gd name="connsiteY18" fmla="*/ 853844 h 908344"/>
              <a:gd name="connsiteX19" fmla="*/ 102946 w 139279"/>
              <a:gd name="connsiteY19" fmla="*/ 872010 h 908344"/>
              <a:gd name="connsiteX20" fmla="*/ 66612 w 139279"/>
              <a:gd name="connsiteY20" fmla="*/ 878066 h 908344"/>
              <a:gd name="connsiteX21" fmla="*/ 24222 w 139279"/>
              <a:gd name="connsiteY21" fmla="*/ 908344 h 90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39279" h="908344">
                <a:moveTo>
                  <a:pt x="0" y="0"/>
                </a:moveTo>
                <a:cubicBezTo>
                  <a:pt x="5782" y="14455"/>
                  <a:pt x="12129" y="36352"/>
                  <a:pt x="24222" y="48445"/>
                </a:cubicBezTo>
                <a:cubicBezTo>
                  <a:pt x="31359" y="55582"/>
                  <a:pt x="40371" y="60556"/>
                  <a:pt x="48445" y="66612"/>
                </a:cubicBezTo>
                <a:cubicBezTo>
                  <a:pt x="54868" y="82669"/>
                  <a:pt x="59857" y="106672"/>
                  <a:pt x="78723" y="115057"/>
                </a:cubicBezTo>
                <a:cubicBezTo>
                  <a:pt x="89943" y="120044"/>
                  <a:pt x="102946" y="119094"/>
                  <a:pt x="115057" y="121112"/>
                </a:cubicBezTo>
                <a:cubicBezTo>
                  <a:pt x="117076" y="127168"/>
                  <a:pt x="117126" y="134294"/>
                  <a:pt x="121113" y="139279"/>
                </a:cubicBezTo>
                <a:cubicBezTo>
                  <a:pt x="125659" y="144962"/>
                  <a:pt x="139279" y="144113"/>
                  <a:pt x="139279" y="151391"/>
                </a:cubicBezTo>
                <a:cubicBezTo>
                  <a:pt x="139279" y="166414"/>
                  <a:pt x="113261" y="180847"/>
                  <a:pt x="102946" y="187724"/>
                </a:cubicBezTo>
                <a:cubicBezTo>
                  <a:pt x="74628" y="230198"/>
                  <a:pt x="105799" y="178448"/>
                  <a:pt x="78723" y="266448"/>
                </a:cubicBezTo>
                <a:cubicBezTo>
                  <a:pt x="77184" y="271451"/>
                  <a:pt x="48553" y="308693"/>
                  <a:pt x="48445" y="308837"/>
                </a:cubicBezTo>
                <a:cubicBezTo>
                  <a:pt x="46426" y="316911"/>
                  <a:pt x="41265" y="324813"/>
                  <a:pt x="42389" y="333059"/>
                </a:cubicBezTo>
                <a:cubicBezTo>
                  <a:pt x="51252" y="398051"/>
                  <a:pt x="57715" y="415366"/>
                  <a:pt x="72667" y="460228"/>
                </a:cubicBezTo>
                <a:cubicBezTo>
                  <a:pt x="59861" y="511455"/>
                  <a:pt x="77306" y="459326"/>
                  <a:pt x="48445" y="502617"/>
                </a:cubicBezTo>
                <a:cubicBezTo>
                  <a:pt x="25045" y="537716"/>
                  <a:pt x="64851" y="505810"/>
                  <a:pt x="24222" y="532895"/>
                </a:cubicBezTo>
                <a:cubicBezTo>
                  <a:pt x="29890" y="615077"/>
                  <a:pt x="1295" y="686109"/>
                  <a:pt x="60556" y="738787"/>
                </a:cubicBezTo>
                <a:cubicBezTo>
                  <a:pt x="69353" y="746607"/>
                  <a:pt x="80307" y="751690"/>
                  <a:pt x="90834" y="756954"/>
                </a:cubicBezTo>
                <a:cubicBezTo>
                  <a:pt x="100557" y="761815"/>
                  <a:pt x="111020" y="765028"/>
                  <a:pt x="121113" y="769065"/>
                </a:cubicBezTo>
                <a:cubicBezTo>
                  <a:pt x="140327" y="797887"/>
                  <a:pt x="145514" y="797339"/>
                  <a:pt x="127168" y="847788"/>
                </a:cubicBezTo>
                <a:cubicBezTo>
                  <a:pt x="124987" y="853787"/>
                  <a:pt x="115057" y="851825"/>
                  <a:pt x="109001" y="853844"/>
                </a:cubicBezTo>
                <a:cubicBezTo>
                  <a:pt x="106983" y="859899"/>
                  <a:pt x="108488" y="868843"/>
                  <a:pt x="102946" y="872010"/>
                </a:cubicBezTo>
                <a:cubicBezTo>
                  <a:pt x="92285" y="878102"/>
                  <a:pt x="78260" y="874183"/>
                  <a:pt x="66612" y="878066"/>
                </a:cubicBezTo>
                <a:cubicBezTo>
                  <a:pt x="30278" y="890177"/>
                  <a:pt x="34988" y="886813"/>
                  <a:pt x="24222" y="908344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BA7667-C117-47BD-9794-F54C97DE8775}"/>
              </a:ext>
            </a:extLst>
          </p:cNvPr>
          <p:cNvSpPr txBox="1"/>
          <p:nvPr/>
        </p:nvSpPr>
        <p:spPr>
          <a:xfrm>
            <a:off x="1679491" y="990598"/>
            <a:ext cx="19880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/>
              <a:t>1. v = read(vect01.vect[0])</a:t>
            </a:r>
          </a:p>
          <a:p>
            <a:r>
              <a:rPr lang="pt-PT" sz="1200"/>
              <a:t>res = v – x // x =100</a:t>
            </a:r>
          </a:p>
          <a:p>
            <a:r>
              <a:rPr lang="pt-PT" sz="1200">
                <a:solidFill>
                  <a:srgbClr val="FF0000"/>
                </a:solidFill>
              </a:rPr>
              <a:t>Espera(10 segundos)</a:t>
            </a:r>
          </a:p>
          <a:p>
            <a:r>
              <a:rPr lang="pt-PT" sz="1200"/>
              <a:t>2. write(vect01.vec[0], res)</a:t>
            </a:r>
          </a:p>
          <a:p>
            <a:r>
              <a:rPr lang="pt-PT" sz="1200">
                <a:solidFill>
                  <a:srgbClr val="FF0000"/>
                </a:solidFill>
              </a:rPr>
              <a:t>Espera(10 segundos)</a:t>
            </a:r>
          </a:p>
          <a:p>
            <a:r>
              <a:rPr lang="pt-PT" sz="1200"/>
              <a:t>3. v = read(vect02.vect[2])</a:t>
            </a:r>
          </a:p>
          <a:p>
            <a:r>
              <a:rPr lang="pt-PT" sz="1200"/>
              <a:t>res = v + x</a:t>
            </a:r>
          </a:p>
          <a:p>
            <a:r>
              <a:rPr lang="pt-PT" sz="1200">
                <a:solidFill>
                  <a:srgbClr val="FF0000"/>
                </a:solidFill>
              </a:rPr>
              <a:t>Espera(10 segundos)</a:t>
            </a:r>
          </a:p>
          <a:p>
            <a:r>
              <a:rPr lang="pt-PT" sz="1200"/>
              <a:t>4. write(vect02.vec[2], res)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BD975C-3F13-4AFF-85EB-78BB1BF08F92}"/>
              </a:ext>
            </a:extLst>
          </p:cNvPr>
          <p:cNvSpPr txBox="1"/>
          <p:nvPr/>
        </p:nvSpPr>
        <p:spPr>
          <a:xfrm>
            <a:off x="7649151" y="4083841"/>
            <a:ext cx="1677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/>
              <a:t>0       1       2      3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7378D79-7F24-48E8-99D8-E43B33B45EDA}"/>
              </a:ext>
            </a:extLst>
          </p:cNvPr>
          <p:cNvCxnSpPr/>
          <p:nvPr/>
        </p:nvCxnSpPr>
        <p:spPr bwMode="auto">
          <a:xfrm>
            <a:off x="5434933" y="5736265"/>
            <a:ext cx="39393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8A10E91-BB65-47E5-B5E1-A10FBA26FCCC}"/>
              </a:ext>
            </a:extLst>
          </p:cNvPr>
          <p:cNvSpPr txBox="1"/>
          <p:nvPr/>
        </p:nvSpPr>
        <p:spPr>
          <a:xfrm>
            <a:off x="9151688" y="5298617"/>
            <a:ext cx="248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t</a:t>
            </a:r>
          </a:p>
        </p:txBody>
      </p:sp>
      <p:sp>
        <p:nvSpPr>
          <p:cNvPr id="32" name="Heptagon 31">
            <a:extLst>
              <a:ext uri="{FF2B5EF4-FFF2-40B4-BE49-F238E27FC236}">
                <a16:creationId xmlns:a16="http://schemas.microsoft.com/office/drawing/2014/main" id="{F9C3B261-FA5F-4D72-918B-294370EEEB66}"/>
              </a:ext>
            </a:extLst>
          </p:cNvPr>
          <p:cNvSpPr/>
          <p:nvPr/>
        </p:nvSpPr>
        <p:spPr bwMode="auto">
          <a:xfrm>
            <a:off x="5663730" y="5274825"/>
            <a:ext cx="304800" cy="369321"/>
          </a:xfrm>
          <a:prstGeom prst="hept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PT" sz="1200"/>
              <a:t>1</a:t>
            </a:r>
          </a:p>
        </p:txBody>
      </p:sp>
      <p:sp>
        <p:nvSpPr>
          <p:cNvPr id="33" name="Heptagon 32">
            <a:extLst>
              <a:ext uri="{FF2B5EF4-FFF2-40B4-BE49-F238E27FC236}">
                <a16:creationId xmlns:a16="http://schemas.microsoft.com/office/drawing/2014/main" id="{BC64EA0C-E0D4-467E-ACC7-AFF97B4CEB04}"/>
              </a:ext>
            </a:extLst>
          </p:cNvPr>
          <p:cNvSpPr/>
          <p:nvPr/>
        </p:nvSpPr>
        <p:spPr bwMode="auto">
          <a:xfrm>
            <a:off x="6081217" y="5804583"/>
            <a:ext cx="304800" cy="369321"/>
          </a:xfrm>
          <a:prstGeom prst="heptagon">
            <a:avLst/>
          </a:prstGeom>
          <a:ln>
            <a:noFill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PT" sz="1200">
                <a:solidFill>
                  <a:schemeClr val="tx1"/>
                </a:solidFill>
                <a:latin typeface="Arial" charset="0"/>
              </a:rPr>
              <a:t>1</a:t>
            </a:r>
          </a:p>
        </p:txBody>
      </p:sp>
      <p:sp>
        <p:nvSpPr>
          <p:cNvPr id="34" name="Heptagon 33">
            <a:extLst>
              <a:ext uri="{FF2B5EF4-FFF2-40B4-BE49-F238E27FC236}">
                <a16:creationId xmlns:a16="http://schemas.microsoft.com/office/drawing/2014/main" id="{B6349CBA-BBA3-4C1C-A38B-CCA945F3BA38}"/>
              </a:ext>
            </a:extLst>
          </p:cNvPr>
          <p:cNvSpPr/>
          <p:nvPr/>
        </p:nvSpPr>
        <p:spPr bwMode="auto">
          <a:xfrm>
            <a:off x="6420056" y="5290139"/>
            <a:ext cx="304800" cy="369321"/>
          </a:xfrm>
          <a:prstGeom prst="hept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PT" sz="1200"/>
              <a:t>2</a:t>
            </a:r>
          </a:p>
        </p:txBody>
      </p:sp>
      <p:sp>
        <p:nvSpPr>
          <p:cNvPr id="36" name="Heptagon 35">
            <a:extLst>
              <a:ext uri="{FF2B5EF4-FFF2-40B4-BE49-F238E27FC236}">
                <a16:creationId xmlns:a16="http://schemas.microsoft.com/office/drawing/2014/main" id="{D2093015-78D5-45A2-99F0-C39E71E6BFA3}"/>
              </a:ext>
            </a:extLst>
          </p:cNvPr>
          <p:cNvSpPr/>
          <p:nvPr/>
        </p:nvSpPr>
        <p:spPr bwMode="auto">
          <a:xfrm>
            <a:off x="6866762" y="5794279"/>
            <a:ext cx="304800" cy="369321"/>
          </a:xfrm>
          <a:prstGeom prst="heptagon">
            <a:avLst/>
          </a:prstGeom>
          <a:ln>
            <a:noFill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PT" sz="1200">
                <a:solidFill>
                  <a:schemeClr val="tx1"/>
                </a:solidFill>
                <a:latin typeface="Arial" charset="0"/>
              </a:rPr>
              <a:t>2</a:t>
            </a:r>
          </a:p>
        </p:txBody>
      </p:sp>
      <p:sp>
        <p:nvSpPr>
          <p:cNvPr id="37" name="Heptagon 36">
            <a:extLst>
              <a:ext uri="{FF2B5EF4-FFF2-40B4-BE49-F238E27FC236}">
                <a16:creationId xmlns:a16="http://schemas.microsoft.com/office/drawing/2014/main" id="{6DA492E5-1CDE-492C-BC6C-4FA05DC8E40B}"/>
              </a:ext>
            </a:extLst>
          </p:cNvPr>
          <p:cNvSpPr/>
          <p:nvPr/>
        </p:nvSpPr>
        <p:spPr bwMode="auto">
          <a:xfrm>
            <a:off x="3488087" y="4123047"/>
            <a:ext cx="304800" cy="369321"/>
          </a:xfrm>
          <a:prstGeom prst="heptagon">
            <a:avLst/>
          </a:prstGeom>
          <a:ln>
            <a:noFill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pt-PT" sz="12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8" name="Heptagon 37">
            <a:extLst>
              <a:ext uri="{FF2B5EF4-FFF2-40B4-BE49-F238E27FC236}">
                <a16:creationId xmlns:a16="http://schemas.microsoft.com/office/drawing/2014/main" id="{BE978910-919B-4521-ADD5-ACD12D6F17BD}"/>
              </a:ext>
            </a:extLst>
          </p:cNvPr>
          <p:cNvSpPr/>
          <p:nvPr/>
        </p:nvSpPr>
        <p:spPr bwMode="auto">
          <a:xfrm>
            <a:off x="3617198" y="2490130"/>
            <a:ext cx="304800" cy="369321"/>
          </a:xfrm>
          <a:prstGeom prst="hept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pt-PT" sz="1200"/>
          </a:p>
        </p:txBody>
      </p:sp>
      <p:sp>
        <p:nvSpPr>
          <p:cNvPr id="53" name="Heptagon 52">
            <a:extLst>
              <a:ext uri="{FF2B5EF4-FFF2-40B4-BE49-F238E27FC236}">
                <a16:creationId xmlns:a16="http://schemas.microsoft.com/office/drawing/2014/main" id="{AA46DD24-C92D-4738-90A2-C7A63F801988}"/>
              </a:ext>
            </a:extLst>
          </p:cNvPr>
          <p:cNvSpPr/>
          <p:nvPr/>
        </p:nvSpPr>
        <p:spPr bwMode="auto">
          <a:xfrm>
            <a:off x="7581672" y="5814887"/>
            <a:ext cx="304800" cy="369321"/>
          </a:xfrm>
          <a:prstGeom prst="heptagon">
            <a:avLst/>
          </a:prstGeom>
          <a:ln>
            <a:noFill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PT" sz="1200">
                <a:solidFill>
                  <a:schemeClr val="tx1"/>
                </a:solidFill>
                <a:latin typeface="Arial" charset="0"/>
              </a:rPr>
              <a:t>3</a:t>
            </a:r>
          </a:p>
        </p:txBody>
      </p:sp>
      <p:sp>
        <p:nvSpPr>
          <p:cNvPr id="54" name="Heptagon 53">
            <a:extLst>
              <a:ext uri="{FF2B5EF4-FFF2-40B4-BE49-F238E27FC236}">
                <a16:creationId xmlns:a16="http://schemas.microsoft.com/office/drawing/2014/main" id="{0745AA11-7E79-46F9-AA58-082ED9E64C86}"/>
              </a:ext>
            </a:extLst>
          </p:cNvPr>
          <p:cNvSpPr/>
          <p:nvPr/>
        </p:nvSpPr>
        <p:spPr bwMode="auto">
          <a:xfrm>
            <a:off x="8367217" y="5804583"/>
            <a:ext cx="304800" cy="369321"/>
          </a:xfrm>
          <a:prstGeom prst="heptagon">
            <a:avLst/>
          </a:prstGeom>
          <a:ln>
            <a:noFill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PT" sz="1200">
                <a:solidFill>
                  <a:schemeClr val="tx1"/>
                </a:solidFill>
                <a:latin typeface="Arial" charset="0"/>
              </a:rPr>
              <a:t>4</a:t>
            </a:r>
          </a:p>
        </p:txBody>
      </p:sp>
      <p:sp>
        <p:nvSpPr>
          <p:cNvPr id="55" name="Heptagon 54">
            <a:extLst>
              <a:ext uri="{FF2B5EF4-FFF2-40B4-BE49-F238E27FC236}">
                <a16:creationId xmlns:a16="http://schemas.microsoft.com/office/drawing/2014/main" id="{97DB01AC-D552-4FA3-88D7-2FEDFFB57BC8}"/>
              </a:ext>
            </a:extLst>
          </p:cNvPr>
          <p:cNvSpPr/>
          <p:nvPr/>
        </p:nvSpPr>
        <p:spPr bwMode="auto">
          <a:xfrm>
            <a:off x="7201820" y="5287574"/>
            <a:ext cx="304800" cy="369321"/>
          </a:xfrm>
          <a:prstGeom prst="hept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PT" sz="1200"/>
              <a:t>3</a:t>
            </a:r>
          </a:p>
        </p:txBody>
      </p:sp>
      <p:sp>
        <p:nvSpPr>
          <p:cNvPr id="56" name="Heptagon 55">
            <a:extLst>
              <a:ext uri="{FF2B5EF4-FFF2-40B4-BE49-F238E27FC236}">
                <a16:creationId xmlns:a16="http://schemas.microsoft.com/office/drawing/2014/main" id="{600B44DD-85B8-4986-802B-526E96189AD9}"/>
              </a:ext>
            </a:extLst>
          </p:cNvPr>
          <p:cNvSpPr/>
          <p:nvPr/>
        </p:nvSpPr>
        <p:spPr bwMode="auto">
          <a:xfrm>
            <a:off x="7958146" y="5302888"/>
            <a:ext cx="304800" cy="369321"/>
          </a:xfrm>
          <a:prstGeom prst="hept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PT" sz="120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E72532-94F3-4F80-A0CE-C26C0FD82C7F}"/>
              </a:ext>
            </a:extLst>
          </p:cNvPr>
          <p:cNvSpPr txBox="1"/>
          <p:nvPr/>
        </p:nvSpPr>
        <p:spPr>
          <a:xfrm>
            <a:off x="4403812" y="5554978"/>
            <a:ext cx="1196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/>
              <a:t>Sequência de execução das operações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FA673D0-1C9E-48F6-84B7-B639337ECD39}"/>
                  </a:ext>
                </a:extLst>
              </p:cNvPr>
              <p:cNvSpPr txBox="1"/>
              <p:nvPr/>
            </p:nvSpPr>
            <p:spPr>
              <a:xfrm>
                <a:off x="7422259" y="4281542"/>
                <a:ext cx="2202013" cy="3202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PT" sz="1400" dirty="0"/>
                  <a:t>Invariant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PT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PT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𝑣𝑒𝑐𝑡𝑜𝑟</m:t>
                        </m:r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pt-PT" sz="1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FA673D0-1C9E-48F6-84B7-B639337EC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259" y="4281542"/>
                <a:ext cx="2202013" cy="320280"/>
              </a:xfrm>
              <a:prstGeom prst="rect">
                <a:avLst/>
              </a:prstGeom>
              <a:blipFill>
                <a:blip r:embed="rId2"/>
                <a:stretch>
                  <a:fillRect l="-831" t="-92453" b="-15283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941797E-B1F9-4E4C-93E3-AE95F7634469}"/>
              </a:ext>
            </a:extLst>
          </p:cNvPr>
          <p:cNvSpPr txBox="1"/>
          <p:nvPr/>
        </p:nvSpPr>
        <p:spPr>
          <a:xfrm>
            <a:off x="8141925" y="4677366"/>
            <a:ext cx="639919" cy="3385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PT" sz="1600">
                <a:solidFill>
                  <a:schemeClr val="bg1"/>
                </a:solidFill>
              </a:rPr>
              <a:t>1379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D9CE3E4-3E6C-4D2B-94F7-86B1294171CD}"/>
              </a:ext>
            </a:extLst>
          </p:cNvPr>
          <p:cNvSpPr/>
          <p:nvPr/>
        </p:nvSpPr>
        <p:spPr bwMode="auto">
          <a:xfrm>
            <a:off x="3503048" y="4802804"/>
            <a:ext cx="880361" cy="106901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AA1A111-3733-46DC-A76F-990FD43E8B6A}"/>
              </a:ext>
            </a:extLst>
          </p:cNvPr>
          <p:cNvSpPr/>
          <p:nvPr/>
        </p:nvSpPr>
        <p:spPr bwMode="auto">
          <a:xfrm>
            <a:off x="3941388" y="4929939"/>
            <a:ext cx="114938" cy="749598"/>
          </a:xfrm>
          <a:custGeom>
            <a:avLst/>
            <a:gdLst>
              <a:gd name="connsiteX0" fmla="*/ 0 w 139279"/>
              <a:gd name="connsiteY0" fmla="*/ 0 h 908344"/>
              <a:gd name="connsiteX1" fmla="*/ 24222 w 139279"/>
              <a:gd name="connsiteY1" fmla="*/ 48445 h 908344"/>
              <a:gd name="connsiteX2" fmla="*/ 48445 w 139279"/>
              <a:gd name="connsiteY2" fmla="*/ 66612 h 908344"/>
              <a:gd name="connsiteX3" fmla="*/ 78723 w 139279"/>
              <a:gd name="connsiteY3" fmla="*/ 115057 h 908344"/>
              <a:gd name="connsiteX4" fmla="*/ 115057 w 139279"/>
              <a:gd name="connsiteY4" fmla="*/ 121112 h 908344"/>
              <a:gd name="connsiteX5" fmla="*/ 121113 w 139279"/>
              <a:gd name="connsiteY5" fmla="*/ 139279 h 908344"/>
              <a:gd name="connsiteX6" fmla="*/ 139279 w 139279"/>
              <a:gd name="connsiteY6" fmla="*/ 151391 h 908344"/>
              <a:gd name="connsiteX7" fmla="*/ 102946 w 139279"/>
              <a:gd name="connsiteY7" fmla="*/ 187724 h 908344"/>
              <a:gd name="connsiteX8" fmla="*/ 78723 w 139279"/>
              <a:gd name="connsiteY8" fmla="*/ 266448 h 908344"/>
              <a:gd name="connsiteX9" fmla="*/ 48445 w 139279"/>
              <a:gd name="connsiteY9" fmla="*/ 308837 h 908344"/>
              <a:gd name="connsiteX10" fmla="*/ 42389 w 139279"/>
              <a:gd name="connsiteY10" fmla="*/ 333059 h 908344"/>
              <a:gd name="connsiteX11" fmla="*/ 72667 w 139279"/>
              <a:gd name="connsiteY11" fmla="*/ 460228 h 908344"/>
              <a:gd name="connsiteX12" fmla="*/ 48445 w 139279"/>
              <a:gd name="connsiteY12" fmla="*/ 502617 h 908344"/>
              <a:gd name="connsiteX13" fmla="*/ 24222 w 139279"/>
              <a:gd name="connsiteY13" fmla="*/ 532895 h 908344"/>
              <a:gd name="connsiteX14" fmla="*/ 60556 w 139279"/>
              <a:gd name="connsiteY14" fmla="*/ 738787 h 908344"/>
              <a:gd name="connsiteX15" fmla="*/ 90834 w 139279"/>
              <a:gd name="connsiteY15" fmla="*/ 756954 h 908344"/>
              <a:gd name="connsiteX16" fmla="*/ 121113 w 139279"/>
              <a:gd name="connsiteY16" fmla="*/ 769065 h 908344"/>
              <a:gd name="connsiteX17" fmla="*/ 127168 w 139279"/>
              <a:gd name="connsiteY17" fmla="*/ 847788 h 908344"/>
              <a:gd name="connsiteX18" fmla="*/ 109001 w 139279"/>
              <a:gd name="connsiteY18" fmla="*/ 853844 h 908344"/>
              <a:gd name="connsiteX19" fmla="*/ 102946 w 139279"/>
              <a:gd name="connsiteY19" fmla="*/ 872010 h 908344"/>
              <a:gd name="connsiteX20" fmla="*/ 66612 w 139279"/>
              <a:gd name="connsiteY20" fmla="*/ 878066 h 908344"/>
              <a:gd name="connsiteX21" fmla="*/ 24222 w 139279"/>
              <a:gd name="connsiteY21" fmla="*/ 908344 h 90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39279" h="908344">
                <a:moveTo>
                  <a:pt x="0" y="0"/>
                </a:moveTo>
                <a:cubicBezTo>
                  <a:pt x="5782" y="14455"/>
                  <a:pt x="12129" y="36352"/>
                  <a:pt x="24222" y="48445"/>
                </a:cubicBezTo>
                <a:cubicBezTo>
                  <a:pt x="31359" y="55582"/>
                  <a:pt x="40371" y="60556"/>
                  <a:pt x="48445" y="66612"/>
                </a:cubicBezTo>
                <a:cubicBezTo>
                  <a:pt x="54868" y="82669"/>
                  <a:pt x="59857" y="106672"/>
                  <a:pt x="78723" y="115057"/>
                </a:cubicBezTo>
                <a:cubicBezTo>
                  <a:pt x="89943" y="120044"/>
                  <a:pt x="102946" y="119094"/>
                  <a:pt x="115057" y="121112"/>
                </a:cubicBezTo>
                <a:cubicBezTo>
                  <a:pt x="117076" y="127168"/>
                  <a:pt x="117126" y="134294"/>
                  <a:pt x="121113" y="139279"/>
                </a:cubicBezTo>
                <a:cubicBezTo>
                  <a:pt x="125659" y="144962"/>
                  <a:pt x="139279" y="144113"/>
                  <a:pt x="139279" y="151391"/>
                </a:cubicBezTo>
                <a:cubicBezTo>
                  <a:pt x="139279" y="166414"/>
                  <a:pt x="113261" y="180847"/>
                  <a:pt x="102946" y="187724"/>
                </a:cubicBezTo>
                <a:cubicBezTo>
                  <a:pt x="74628" y="230198"/>
                  <a:pt x="105799" y="178448"/>
                  <a:pt x="78723" y="266448"/>
                </a:cubicBezTo>
                <a:cubicBezTo>
                  <a:pt x="77184" y="271451"/>
                  <a:pt x="48553" y="308693"/>
                  <a:pt x="48445" y="308837"/>
                </a:cubicBezTo>
                <a:cubicBezTo>
                  <a:pt x="46426" y="316911"/>
                  <a:pt x="41265" y="324813"/>
                  <a:pt x="42389" y="333059"/>
                </a:cubicBezTo>
                <a:cubicBezTo>
                  <a:pt x="51252" y="398051"/>
                  <a:pt x="57715" y="415366"/>
                  <a:pt x="72667" y="460228"/>
                </a:cubicBezTo>
                <a:cubicBezTo>
                  <a:pt x="59861" y="511455"/>
                  <a:pt x="77306" y="459326"/>
                  <a:pt x="48445" y="502617"/>
                </a:cubicBezTo>
                <a:cubicBezTo>
                  <a:pt x="25045" y="537716"/>
                  <a:pt x="64851" y="505810"/>
                  <a:pt x="24222" y="532895"/>
                </a:cubicBezTo>
                <a:cubicBezTo>
                  <a:pt x="29890" y="615077"/>
                  <a:pt x="1295" y="686109"/>
                  <a:pt x="60556" y="738787"/>
                </a:cubicBezTo>
                <a:cubicBezTo>
                  <a:pt x="69353" y="746607"/>
                  <a:pt x="80307" y="751690"/>
                  <a:pt x="90834" y="756954"/>
                </a:cubicBezTo>
                <a:cubicBezTo>
                  <a:pt x="100557" y="761815"/>
                  <a:pt x="111020" y="765028"/>
                  <a:pt x="121113" y="769065"/>
                </a:cubicBezTo>
                <a:cubicBezTo>
                  <a:pt x="140327" y="797887"/>
                  <a:pt x="145514" y="797339"/>
                  <a:pt x="127168" y="847788"/>
                </a:cubicBezTo>
                <a:cubicBezTo>
                  <a:pt x="124987" y="853787"/>
                  <a:pt x="115057" y="851825"/>
                  <a:pt x="109001" y="853844"/>
                </a:cubicBezTo>
                <a:cubicBezTo>
                  <a:pt x="106983" y="859899"/>
                  <a:pt x="108488" y="868843"/>
                  <a:pt x="102946" y="872010"/>
                </a:cubicBezTo>
                <a:cubicBezTo>
                  <a:pt x="92285" y="878102"/>
                  <a:pt x="78260" y="874183"/>
                  <a:pt x="66612" y="878066"/>
                </a:cubicBezTo>
                <a:cubicBezTo>
                  <a:pt x="30278" y="890177"/>
                  <a:pt x="34988" y="886813"/>
                  <a:pt x="24222" y="908344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4913B2-490A-4F48-AC05-51F4D7B60697}"/>
              </a:ext>
            </a:extLst>
          </p:cNvPr>
          <p:cNvSpPr txBox="1"/>
          <p:nvPr/>
        </p:nvSpPr>
        <p:spPr>
          <a:xfrm>
            <a:off x="3720717" y="439181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. . 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AFA357-F468-429E-98C8-2A17ACF814C2}"/>
              </a:ext>
            </a:extLst>
          </p:cNvPr>
          <p:cNvSpPr txBox="1"/>
          <p:nvPr/>
        </p:nvSpPr>
        <p:spPr>
          <a:xfrm>
            <a:off x="1955540" y="5219745"/>
            <a:ext cx="1499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 err="1"/>
              <a:t>service.cliente.N</a:t>
            </a:r>
            <a:endParaRPr lang="pt-PT" sz="14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BB6BAEE-6EBF-4713-A954-4EC9AEA6064D}"/>
              </a:ext>
            </a:extLst>
          </p:cNvPr>
          <p:cNvCxnSpPr>
            <a:cxnSpLocks/>
            <a:stCxn id="42" idx="6"/>
            <a:endCxn id="5" idx="2"/>
          </p:cNvCxnSpPr>
          <p:nvPr/>
        </p:nvCxnSpPr>
        <p:spPr bwMode="auto">
          <a:xfrm flipV="1">
            <a:off x="4383409" y="4260106"/>
            <a:ext cx="3069448" cy="107720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3773B0A3-0888-45EE-813E-04CC217878FB}"/>
              </a:ext>
            </a:extLst>
          </p:cNvPr>
          <p:cNvSpPr/>
          <p:nvPr/>
        </p:nvSpPr>
        <p:spPr bwMode="auto">
          <a:xfrm>
            <a:off x="7483634" y="960627"/>
            <a:ext cx="2036854" cy="2134462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E3E55B-6477-44AE-BC80-CF7E241BDF62}"/>
              </a:ext>
            </a:extLst>
          </p:cNvPr>
          <p:cNvSpPr txBox="1"/>
          <p:nvPr/>
        </p:nvSpPr>
        <p:spPr>
          <a:xfrm>
            <a:off x="9060814" y="908720"/>
            <a:ext cx="1495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/>
              <a:t>service.vect01</a:t>
            </a:r>
          </a:p>
        </p:txBody>
      </p:sp>
      <p:graphicFrame>
        <p:nvGraphicFramePr>
          <p:cNvPr id="64" name="Table 7">
            <a:extLst>
              <a:ext uri="{FF2B5EF4-FFF2-40B4-BE49-F238E27FC236}">
                <a16:creationId xmlns:a16="http://schemas.microsoft.com/office/drawing/2014/main" id="{73E2EAD1-F41A-43AF-B296-B976DB421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777906"/>
              </p:ext>
            </p:extLst>
          </p:nvPr>
        </p:nvGraphicFramePr>
        <p:xfrm>
          <a:off x="7571361" y="1666331"/>
          <a:ext cx="1786352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133">
                  <a:extLst>
                    <a:ext uri="{9D8B030D-6E8A-4147-A177-3AD203B41FA5}">
                      <a16:colId xmlns:a16="http://schemas.microsoft.com/office/drawing/2014/main" val="1602634416"/>
                    </a:ext>
                  </a:extLst>
                </a:gridCol>
                <a:gridCol w="458022">
                  <a:extLst>
                    <a:ext uri="{9D8B030D-6E8A-4147-A177-3AD203B41FA5}">
                      <a16:colId xmlns:a16="http://schemas.microsoft.com/office/drawing/2014/main" val="2072137769"/>
                    </a:ext>
                  </a:extLst>
                </a:gridCol>
                <a:gridCol w="393175">
                  <a:extLst>
                    <a:ext uri="{9D8B030D-6E8A-4147-A177-3AD203B41FA5}">
                      <a16:colId xmlns:a16="http://schemas.microsoft.com/office/drawing/2014/main" val="199495732"/>
                    </a:ext>
                  </a:extLst>
                </a:gridCol>
                <a:gridCol w="458022">
                  <a:extLst>
                    <a:ext uri="{9D8B030D-6E8A-4147-A177-3AD203B41FA5}">
                      <a16:colId xmlns:a16="http://schemas.microsoft.com/office/drawing/2014/main" val="3464804587"/>
                    </a:ext>
                  </a:extLst>
                </a:gridCol>
              </a:tblGrid>
              <a:tr h="250475">
                <a:tc>
                  <a:txBody>
                    <a:bodyPr/>
                    <a:lstStyle/>
                    <a:p>
                      <a:r>
                        <a:rPr lang="en-US" sz="1200" b="0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789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625492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D22B243E-1C11-4DC2-9529-421646CFA004}"/>
              </a:ext>
            </a:extLst>
          </p:cNvPr>
          <p:cNvSpPr txBox="1"/>
          <p:nvPr/>
        </p:nvSpPr>
        <p:spPr>
          <a:xfrm>
            <a:off x="7679618" y="135234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/>
              <a:t>vector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1C0B10-FEBF-497F-BF58-12B4E34ECBE2}"/>
              </a:ext>
            </a:extLst>
          </p:cNvPr>
          <p:cNvSpPr txBox="1"/>
          <p:nvPr/>
        </p:nvSpPr>
        <p:spPr>
          <a:xfrm>
            <a:off x="7679928" y="1851593"/>
            <a:ext cx="1677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/>
              <a:t>0       1       2      3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965D576-369C-4A50-B219-4AA7D1118FFC}"/>
                  </a:ext>
                </a:extLst>
              </p:cNvPr>
              <p:cNvSpPr txBox="1"/>
              <p:nvPr/>
            </p:nvSpPr>
            <p:spPr>
              <a:xfrm>
                <a:off x="7453036" y="2049294"/>
                <a:ext cx="2202013" cy="3202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PT" sz="1400" dirty="0"/>
                  <a:t>Invariant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PT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PT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𝑣𝑒𝑐𝑡𝑜𝑟</m:t>
                        </m:r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pt-PT" sz="14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965D576-369C-4A50-B219-4AA7D1118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036" y="2049294"/>
                <a:ext cx="2202013" cy="320280"/>
              </a:xfrm>
              <a:prstGeom prst="rect">
                <a:avLst/>
              </a:prstGeom>
              <a:blipFill>
                <a:blip r:embed="rId2"/>
                <a:stretch>
                  <a:fillRect l="-831" t="-92453" b="-15283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F549ECFF-19FF-4646-970B-89C7C1EEBDA5}"/>
              </a:ext>
            </a:extLst>
          </p:cNvPr>
          <p:cNvSpPr txBox="1"/>
          <p:nvPr/>
        </p:nvSpPr>
        <p:spPr>
          <a:xfrm>
            <a:off x="8172702" y="2445118"/>
            <a:ext cx="639919" cy="3385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PT" sz="1600">
                <a:solidFill>
                  <a:schemeClr val="bg1"/>
                </a:solidFill>
              </a:rPr>
              <a:t>1379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DAC4EA9-195F-4033-A974-6CD290D03F95}"/>
              </a:ext>
            </a:extLst>
          </p:cNvPr>
          <p:cNvCxnSpPr>
            <a:cxnSpLocks/>
            <a:stCxn id="11" idx="6"/>
            <a:endCxn id="67" idx="1"/>
          </p:cNvCxnSpPr>
          <p:nvPr/>
        </p:nvCxnSpPr>
        <p:spPr bwMode="auto">
          <a:xfrm>
            <a:off x="4887867" y="2143820"/>
            <a:ext cx="2565169" cy="656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76B17EB-8FDB-4E85-9E68-8E67479F7D62}"/>
              </a:ext>
            </a:extLst>
          </p:cNvPr>
          <p:cNvCxnSpPr>
            <a:cxnSpLocks/>
            <a:stCxn id="13" idx="6"/>
            <a:endCxn id="67" idx="1"/>
          </p:cNvCxnSpPr>
          <p:nvPr/>
        </p:nvCxnSpPr>
        <p:spPr bwMode="auto">
          <a:xfrm flipV="1">
            <a:off x="4796917" y="2209434"/>
            <a:ext cx="2656119" cy="167461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D18DF77-4B8D-4D4A-A6AB-F8EAF0FE0407}"/>
              </a:ext>
            </a:extLst>
          </p:cNvPr>
          <p:cNvCxnSpPr>
            <a:cxnSpLocks/>
            <a:stCxn id="42" idx="6"/>
            <a:endCxn id="67" idx="1"/>
          </p:cNvCxnSpPr>
          <p:nvPr/>
        </p:nvCxnSpPr>
        <p:spPr bwMode="auto">
          <a:xfrm flipV="1">
            <a:off x="4383409" y="2209434"/>
            <a:ext cx="3069627" cy="31278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48D77D60-733B-45A4-A1A9-BA0A843372E9}"/>
              </a:ext>
            </a:extLst>
          </p:cNvPr>
          <p:cNvSpPr txBox="1"/>
          <p:nvPr/>
        </p:nvSpPr>
        <p:spPr>
          <a:xfrm>
            <a:off x="1685566" y="2995574"/>
            <a:ext cx="19880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/>
              <a:t>1. v = read(vect01.vect[0])</a:t>
            </a:r>
          </a:p>
          <a:p>
            <a:r>
              <a:rPr lang="pt-PT" sz="1200"/>
              <a:t>res = v – x // x =100</a:t>
            </a:r>
          </a:p>
          <a:p>
            <a:r>
              <a:rPr lang="pt-PT" sz="1200">
                <a:solidFill>
                  <a:srgbClr val="FF0000"/>
                </a:solidFill>
              </a:rPr>
              <a:t>Espera(10 segundos)</a:t>
            </a:r>
          </a:p>
          <a:p>
            <a:r>
              <a:rPr lang="pt-PT" sz="1200"/>
              <a:t>2. write(vect01.vec[0], res)</a:t>
            </a:r>
          </a:p>
          <a:p>
            <a:r>
              <a:rPr lang="pt-PT" sz="1200">
                <a:solidFill>
                  <a:srgbClr val="FF0000"/>
                </a:solidFill>
              </a:rPr>
              <a:t>Espera(10 segundos)</a:t>
            </a:r>
          </a:p>
          <a:p>
            <a:r>
              <a:rPr lang="pt-PT" sz="1200"/>
              <a:t>3. v = read(vect02.vect[2])</a:t>
            </a:r>
          </a:p>
          <a:p>
            <a:r>
              <a:rPr lang="pt-PT" sz="1200"/>
              <a:t>res = v + x</a:t>
            </a:r>
          </a:p>
          <a:p>
            <a:r>
              <a:rPr lang="pt-PT" sz="1200">
                <a:solidFill>
                  <a:srgbClr val="FF0000"/>
                </a:solidFill>
              </a:rPr>
              <a:t>Espera(10 segundos)</a:t>
            </a:r>
          </a:p>
          <a:p>
            <a:r>
              <a:rPr lang="pt-PT" sz="1200"/>
              <a:t>4. write(vect02.vec[2], res)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2AEF73-9D59-25DB-E49A-DC3C04FBE6F9}"/>
              </a:ext>
            </a:extLst>
          </p:cNvPr>
          <p:cNvSpPr txBox="1"/>
          <p:nvPr/>
        </p:nvSpPr>
        <p:spPr>
          <a:xfrm>
            <a:off x="10512509" y="1831684"/>
            <a:ext cx="639919" cy="3385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PT" sz="1600">
                <a:solidFill>
                  <a:schemeClr val="bg1"/>
                </a:solidFill>
              </a:rPr>
              <a:t>1379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13AC7-46BE-D92F-C173-8E6996661110}"/>
              </a:ext>
            </a:extLst>
          </p:cNvPr>
          <p:cNvSpPr txBox="1"/>
          <p:nvPr/>
        </p:nvSpPr>
        <p:spPr>
          <a:xfrm>
            <a:off x="10556736" y="4041068"/>
            <a:ext cx="639919" cy="3385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PT" sz="1600">
                <a:solidFill>
                  <a:schemeClr val="bg1"/>
                </a:solidFill>
              </a:rPr>
              <a:t>1379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18A93C-2BB6-303D-716F-A8C03ED8DF31}"/>
              </a:ext>
            </a:extLst>
          </p:cNvPr>
          <p:cNvSpPr txBox="1"/>
          <p:nvPr/>
        </p:nvSpPr>
        <p:spPr>
          <a:xfrm>
            <a:off x="10556736" y="4740454"/>
            <a:ext cx="639919" cy="3385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2758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93491C2-BD98-11AB-B715-5F4C3CBA9B35}"/>
              </a:ext>
            </a:extLst>
          </p:cNvPr>
          <p:cNvCxnSpPr/>
          <p:nvPr/>
        </p:nvCxnSpPr>
        <p:spPr bwMode="auto">
          <a:xfrm>
            <a:off x="10273455" y="4538948"/>
            <a:ext cx="1215974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B664C07-789B-D8B8-5937-A0F0E98AAA0C}"/>
              </a:ext>
            </a:extLst>
          </p:cNvPr>
          <p:cNvCxnSpPr>
            <a:cxnSpLocks/>
            <a:stCxn id="18" idx="2"/>
            <a:endCxn id="28" idx="0"/>
          </p:cNvCxnSpPr>
          <p:nvPr/>
        </p:nvCxnSpPr>
        <p:spPr bwMode="auto">
          <a:xfrm flipH="1">
            <a:off x="10529934" y="5079008"/>
            <a:ext cx="346762" cy="2318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4935F8B-7A60-BC46-F75B-E8245B477251}"/>
              </a:ext>
            </a:extLst>
          </p:cNvPr>
          <p:cNvSpPr txBox="1"/>
          <p:nvPr/>
        </p:nvSpPr>
        <p:spPr>
          <a:xfrm>
            <a:off x="9831281" y="5310813"/>
            <a:ext cx="1397306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pt-PT" sz="1600" dirty="0">
                <a:solidFill>
                  <a:schemeClr val="accent1">
                    <a:lumMod val="50000"/>
                  </a:schemeClr>
                </a:solidFill>
              </a:rPr>
              <a:t>Novo</a:t>
            </a:r>
          </a:p>
          <a:p>
            <a:pPr algn="ctr"/>
            <a:r>
              <a:rPr lang="pt-PT" sz="1600" dirty="0">
                <a:solidFill>
                  <a:schemeClr val="accent1">
                    <a:lumMod val="50000"/>
                  </a:schemeClr>
                </a:solidFill>
              </a:rPr>
              <a:t>INVARIANTE</a:t>
            </a:r>
          </a:p>
        </p:txBody>
      </p:sp>
    </p:spTree>
    <p:extLst>
      <p:ext uri="{BB962C8B-B14F-4D97-AF65-F5344CB8AC3E}">
        <p14:creationId xmlns:p14="http://schemas.microsoft.com/office/powerpoint/2010/main" val="306947375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19092</TotalTime>
  <Words>241</Words>
  <Application>Microsoft Macintosh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Cambria Math</vt:lpstr>
      <vt:lpstr>Times New Roman</vt:lpstr>
      <vt:lpstr>Webdings</vt:lpstr>
      <vt:lpstr>Default Design</vt:lpstr>
      <vt:lpstr>A acesso concorrente a múltiplos Service.vectxx </vt:lpstr>
    </vt:vector>
  </TitlesOfParts>
  <Company>ISEL-DEETC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RMI</dc:title>
  <dc:creator>A. Luis Osorio</dc:creator>
  <cp:lastModifiedBy>António Osório</cp:lastModifiedBy>
  <cp:revision>1567</cp:revision>
  <cp:lastPrinted>2025-03-07T17:04:48Z</cp:lastPrinted>
  <dcterms:created xsi:type="dcterms:W3CDTF">1999-10-11T23:45:10Z</dcterms:created>
  <dcterms:modified xsi:type="dcterms:W3CDTF">2026-03-10T15:14:48Z</dcterms:modified>
</cp:coreProperties>
</file>